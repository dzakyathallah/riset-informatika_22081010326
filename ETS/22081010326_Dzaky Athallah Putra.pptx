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68" r:id="rId8"/>
  </p:sldIdLst>
  <p:sldSz cx="18288000" cy="10287000"/>
  <p:notesSz cx="6858000" cy="9144000"/>
  <p:embeddedFontLst>
    <p:embeddedFont>
      <p:font typeface="Dimsum Semi-Bold" panose="020B0604020202020204" charset="-34"/>
      <p:regular r:id="rId9"/>
    </p:embeddedFont>
    <p:embeddedFont>
      <p:font typeface="Poppins Medium" panose="00000600000000000000" pitchFamily="2" charset="0"/>
      <p:regular r:id="rId10"/>
    </p:embeddedFont>
    <p:embeddedFont>
      <p:font typeface="Poppins Semi-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1.png"/><Relationship Id="rId16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sv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77997" y="371040"/>
            <a:ext cx="4532006" cy="4114800"/>
          </a:xfrm>
          <a:custGeom>
            <a:avLst/>
            <a:gdLst/>
            <a:ahLst/>
            <a:cxnLst/>
            <a:rect l="l" t="t" r="r" b="b"/>
            <a:pathLst>
              <a:path w="4532006" h="4114800">
                <a:moveTo>
                  <a:pt x="0" y="0"/>
                </a:moveTo>
                <a:lnTo>
                  <a:pt x="4532006" y="0"/>
                </a:lnTo>
                <a:lnTo>
                  <a:pt x="45320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90800" y="-38100"/>
            <a:ext cx="12636622" cy="8229600"/>
          </a:xfrm>
          <a:custGeom>
            <a:avLst/>
            <a:gdLst/>
            <a:ahLst/>
            <a:cxnLst/>
            <a:rect l="l" t="t" r="r" b="b"/>
            <a:pathLst>
              <a:path w="12636622" h="8229600">
                <a:moveTo>
                  <a:pt x="0" y="0"/>
                </a:moveTo>
                <a:lnTo>
                  <a:pt x="12636622" y="0"/>
                </a:lnTo>
                <a:lnTo>
                  <a:pt x="1263662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4" name="TextBox 4"/>
          <p:cNvSpPr txBox="1"/>
          <p:nvPr/>
        </p:nvSpPr>
        <p:spPr>
          <a:xfrm>
            <a:off x="5181600" y="4561103"/>
            <a:ext cx="10210800" cy="4801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184"/>
              </a:lnSpc>
            </a:pPr>
            <a:r>
              <a:rPr lang="en-US" sz="48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ETS RISET INFORMATIKA</a:t>
            </a:r>
          </a:p>
        </p:txBody>
      </p:sp>
      <p:sp>
        <p:nvSpPr>
          <p:cNvPr id="5" name="Freeform 5"/>
          <p:cNvSpPr/>
          <p:nvPr/>
        </p:nvSpPr>
        <p:spPr>
          <a:xfrm>
            <a:off x="-2025265" y="8506829"/>
            <a:ext cx="3657600" cy="751471"/>
          </a:xfrm>
          <a:custGeom>
            <a:avLst/>
            <a:gdLst/>
            <a:ahLst/>
            <a:cxnLst/>
            <a:rect l="l" t="t" r="r" b="b"/>
            <a:pathLst>
              <a:path w="3657600" h="751471">
                <a:moveTo>
                  <a:pt x="0" y="0"/>
                </a:moveTo>
                <a:lnTo>
                  <a:pt x="3657600" y="0"/>
                </a:lnTo>
                <a:lnTo>
                  <a:pt x="3657600" y="751471"/>
                </a:lnTo>
                <a:lnTo>
                  <a:pt x="0" y="751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670371" y="8506829"/>
            <a:ext cx="3657600" cy="751471"/>
          </a:xfrm>
          <a:custGeom>
            <a:avLst/>
            <a:gdLst/>
            <a:ahLst/>
            <a:cxnLst/>
            <a:rect l="l" t="t" r="r" b="b"/>
            <a:pathLst>
              <a:path w="3657600" h="751471">
                <a:moveTo>
                  <a:pt x="3657600" y="0"/>
                </a:moveTo>
                <a:lnTo>
                  <a:pt x="0" y="0"/>
                </a:lnTo>
                <a:lnTo>
                  <a:pt x="0" y="751471"/>
                </a:lnTo>
                <a:lnTo>
                  <a:pt x="3657600" y="751471"/>
                </a:lnTo>
                <a:lnTo>
                  <a:pt x="36576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7322553" y="8506829"/>
            <a:ext cx="3657600" cy="751471"/>
          </a:xfrm>
          <a:custGeom>
            <a:avLst/>
            <a:gdLst/>
            <a:ahLst/>
            <a:cxnLst/>
            <a:rect l="l" t="t" r="r" b="b"/>
            <a:pathLst>
              <a:path w="3657600" h="751471">
                <a:moveTo>
                  <a:pt x="3657600" y="0"/>
                </a:moveTo>
                <a:lnTo>
                  <a:pt x="0" y="0"/>
                </a:lnTo>
                <a:lnTo>
                  <a:pt x="0" y="751471"/>
                </a:lnTo>
                <a:lnTo>
                  <a:pt x="3657600" y="751471"/>
                </a:lnTo>
                <a:lnTo>
                  <a:pt x="36576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693528" y="8506829"/>
            <a:ext cx="3657600" cy="751471"/>
          </a:xfrm>
          <a:custGeom>
            <a:avLst/>
            <a:gdLst/>
            <a:ahLst/>
            <a:cxnLst/>
            <a:rect l="l" t="t" r="r" b="b"/>
            <a:pathLst>
              <a:path w="3657600" h="751471">
                <a:moveTo>
                  <a:pt x="0" y="0"/>
                </a:moveTo>
                <a:lnTo>
                  <a:pt x="3657600" y="0"/>
                </a:lnTo>
                <a:lnTo>
                  <a:pt x="3657600" y="751471"/>
                </a:lnTo>
                <a:lnTo>
                  <a:pt x="0" y="7514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 flipV="1">
            <a:off x="10932528" y="8506829"/>
            <a:ext cx="3657600" cy="751471"/>
          </a:xfrm>
          <a:custGeom>
            <a:avLst/>
            <a:gdLst/>
            <a:ahLst/>
            <a:cxnLst/>
            <a:rect l="l" t="t" r="r" b="b"/>
            <a:pathLst>
              <a:path w="3657600" h="751471">
                <a:moveTo>
                  <a:pt x="3657600" y="751471"/>
                </a:moveTo>
                <a:lnTo>
                  <a:pt x="0" y="751471"/>
                </a:lnTo>
                <a:lnTo>
                  <a:pt x="0" y="0"/>
                </a:lnTo>
                <a:lnTo>
                  <a:pt x="3657600" y="0"/>
                </a:lnTo>
                <a:lnTo>
                  <a:pt x="3657600" y="75147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5988673" y="2317081"/>
            <a:ext cx="6608402" cy="6283989"/>
          </a:xfrm>
          <a:custGeom>
            <a:avLst/>
            <a:gdLst/>
            <a:ahLst/>
            <a:cxnLst/>
            <a:rect l="l" t="t" r="r" b="b"/>
            <a:pathLst>
              <a:path w="6608402" h="6283989">
                <a:moveTo>
                  <a:pt x="6608402" y="0"/>
                </a:moveTo>
                <a:lnTo>
                  <a:pt x="0" y="0"/>
                </a:lnTo>
                <a:lnTo>
                  <a:pt x="0" y="6283989"/>
                </a:lnTo>
                <a:lnTo>
                  <a:pt x="6608402" y="6283989"/>
                </a:lnTo>
                <a:lnTo>
                  <a:pt x="66084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386503" y="3115237"/>
            <a:ext cx="5348297" cy="4238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4"/>
              </a:lnSpc>
            </a:pPr>
            <a:r>
              <a:rPr lang="en-US" sz="3600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Pengembangan</a:t>
            </a:r>
            <a:r>
              <a:rPr lang="en-US" sz="36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3600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Sistem</a:t>
            </a:r>
            <a:r>
              <a:rPr lang="en-US" sz="36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3600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Informasi</a:t>
            </a:r>
            <a:r>
              <a:rPr lang="en-US" sz="36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3600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Berbasis</a:t>
            </a:r>
            <a:r>
              <a:rPr lang="en-US" sz="36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Web </a:t>
            </a:r>
            <a:r>
              <a:rPr lang="en-US" sz="3600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untuk</a:t>
            </a:r>
            <a:r>
              <a:rPr lang="en-US" sz="36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3600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Pengelolaan</a:t>
            </a:r>
            <a:r>
              <a:rPr lang="en-US" sz="36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3600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Pendaftaran</a:t>
            </a:r>
            <a:r>
              <a:rPr lang="en-US" sz="36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dan Data </a:t>
            </a:r>
            <a:r>
              <a:rPr lang="en-US" sz="3600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Atlet</a:t>
            </a:r>
            <a:r>
              <a:rPr lang="en-US" sz="36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pada Klub Taekwondo </a:t>
            </a:r>
            <a:r>
              <a:rPr lang="en-US" sz="3600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Jaladewa</a:t>
            </a:r>
            <a:r>
              <a:rPr lang="en-US" sz="36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di Surabaya </a:t>
            </a:r>
            <a:r>
              <a:rPr lang="en-US" sz="3600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menggunakan</a:t>
            </a:r>
            <a:r>
              <a:rPr lang="en-US" sz="36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Metode Agile</a:t>
            </a:r>
          </a:p>
        </p:txBody>
      </p:sp>
      <p:sp>
        <p:nvSpPr>
          <p:cNvPr id="5" name="Freeform 5"/>
          <p:cNvSpPr/>
          <p:nvPr/>
        </p:nvSpPr>
        <p:spPr>
          <a:xfrm>
            <a:off x="16230600" y="82296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866494" y="2812105"/>
            <a:ext cx="6608402" cy="6283989"/>
          </a:xfrm>
          <a:custGeom>
            <a:avLst/>
            <a:gdLst/>
            <a:ahLst/>
            <a:cxnLst/>
            <a:rect l="l" t="t" r="r" b="b"/>
            <a:pathLst>
              <a:path w="6608402" h="6283989">
                <a:moveTo>
                  <a:pt x="6608401" y="0"/>
                </a:moveTo>
                <a:lnTo>
                  <a:pt x="0" y="0"/>
                </a:lnTo>
                <a:lnTo>
                  <a:pt x="0" y="6283989"/>
                </a:lnTo>
                <a:lnTo>
                  <a:pt x="6608401" y="6283989"/>
                </a:lnTo>
                <a:lnTo>
                  <a:pt x="660840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05493" y="514350"/>
            <a:ext cx="9277014" cy="124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1" dirty="0">
                <a:solidFill>
                  <a:srgbClr val="732E08"/>
                </a:solidFill>
                <a:latin typeface="Dimsum Semi-Bold"/>
                <a:ea typeface="Dimsum Semi-Bold"/>
                <a:cs typeface="Dimsum Semi-Bold"/>
                <a:sym typeface="Dimsum Semi-Bold"/>
              </a:rPr>
              <a:t>LATAR BELAKANG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36774" y="4338804"/>
            <a:ext cx="5123866" cy="238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4"/>
              </a:lnSpc>
            </a:pPr>
            <a:r>
              <a:rPr lang="en-US" sz="2274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Pengembangan</a:t>
            </a:r>
            <a:r>
              <a:rPr lang="en-US" sz="2274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274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Sistem</a:t>
            </a:r>
            <a:r>
              <a:rPr lang="en-US" sz="2274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274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Informasi</a:t>
            </a:r>
            <a:r>
              <a:rPr lang="en-US" sz="2274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274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Berbasis</a:t>
            </a:r>
            <a:r>
              <a:rPr lang="en-US" sz="2274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Web </a:t>
            </a:r>
            <a:r>
              <a:rPr lang="en-US" sz="2274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untuk</a:t>
            </a:r>
            <a:r>
              <a:rPr lang="en-US" sz="2274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274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Pengelolaan</a:t>
            </a:r>
            <a:r>
              <a:rPr lang="en-US" sz="2274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274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Pendaftaran</a:t>
            </a:r>
            <a:r>
              <a:rPr lang="en-US" sz="2274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dan Data </a:t>
            </a:r>
            <a:r>
              <a:rPr lang="en-US" sz="2274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Atlet</a:t>
            </a:r>
            <a:r>
              <a:rPr lang="en-US" sz="2274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pada Klub Taekwondo </a:t>
            </a:r>
            <a:r>
              <a:rPr lang="en-US" sz="2274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Jaladewa</a:t>
            </a:r>
            <a:r>
              <a:rPr lang="en-US" sz="2274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di Surabaya </a:t>
            </a:r>
            <a:r>
              <a:rPr lang="en-US" sz="2274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menggunakan</a:t>
            </a:r>
            <a:r>
              <a:rPr lang="en-US" sz="2274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Metode Agile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34349" y="2665534"/>
            <a:ext cx="9824951" cy="6592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38"/>
              </a:lnSpc>
            </a:pPr>
            <a:r>
              <a:rPr lang="en-ID" sz="3200" dirty="0" err="1"/>
              <a:t>Perkembangan</a:t>
            </a:r>
            <a:r>
              <a:rPr lang="en-ID" sz="3200" dirty="0"/>
              <a:t> </a:t>
            </a:r>
            <a:r>
              <a:rPr lang="en-ID" sz="3200" dirty="0" err="1"/>
              <a:t>teknologi</a:t>
            </a:r>
            <a:r>
              <a:rPr lang="en-ID" sz="3200" dirty="0"/>
              <a:t> </a:t>
            </a:r>
            <a:r>
              <a:rPr lang="en-ID" sz="3200" dirty="0" err="1"/>
              <a:t>informasi</a:t>
            </a:r>
            <a:r>
              <a:rPr lang="en-ID" sz="3200" dirty="0"/>
              <a:t> </a:t>
            </a:r>
            <a:r>
              <a:rPr lang="en-ID" sz="3200" dirty="0" err="1"/>
              <a:t>saat</a:t>
            </a:r>
            <a:r>
              <a:rPr lang="en-ID" sz="3200" dirty="0"/>
              <a:t> </a:t>
            </a:r>
            <a:r>
              <a:rPr lang="en-ID" sz="3200" dirty="0" err="1"/>
              <a:t>ini</a:t>
            </a:r>
            <a:r>
              <a:rPr lang="en-ID" sz="3200" dirty="0"/>
              <a:t> </a:t>
            </a:r>
            <a:r>
              <a:rPr lang="en-ID" sz="3200" dirty="0" err="1"/>
              <a:t>telah</a:t>
            </a:r>
            <a:r>
              <a:rPr lang="en-ID" sz="3200" dirty="0"/>
              <a:t> </a:t>
            </a:r>
            <a:r>
              <a:rPr lang="en-ID" sz="3200" dirty="0" err="1"/>
              <a:t>membawa</a:t>
            </a:r>
            <a:r>
              <a:rPr lang="en-ID" sz="3200" dirty="0"/>
              <a:t> </a:t>
            </a:r>
            <a:r>
              <a:rPr lang="en-ID" sz="3200" dirty="0" err="1"/>
              <a:t>perubahan</a:t>
            </a:r>
            <a:r>
              <a:rPr lang="en-ID" sz="3200" dirty="0"/>
              <a:t> </a:t>
            </a:r>
            <a:r>
              <a:rPr lang="en-ID" sz="3200" dirty="0" err="1"/>
              <a:t>signifikan</a:t>
            </a:r>
            <a:r>
              <a:rPr lang="en-ID" sz="3200" dirty="0"/>
              <a:t> </a:t>
            </a:r>
            <a:r>
              <a:rPr lang="en-ID" sz="3200" dirty="0" err="1"/>
              <a:t>dalam</a:t>
            </a:r>
            <a:r>
              <a:rPr lang="en-ID" sz="3200" dirty="0"/>
              <a:t> </a:t>
            </a:r>
            <a:r>
              <a:rPr lang="en-ID" sz="3200" dirty="0" err="1"/>
              <a:t>pengelolaan</a:t>
            </a:r>
            <a:r>
              <a:rPr lang="en-ID" sz="3200" dirty="0"/>
              <a:t> data dan </a:t>
            </a:r>
            <a:r>
              <a:rPr lang="en-ID" sz="3200" dirty="0" err="1"/>
              <a:t>administrasi</a:t>
            </a:r>
            <a:r>
              <a:rPr lang="en-ID" sz="3200" dirty="0"/>
              <a:t> </a:t>
            </a:r>
            <a:r>
              <a:rPr lang="en-ID" sz="3200" dirty="0" err="1"/>
              <a:t>organisasi</a:t>
            </a:r>
            <a:r>
              <a:rPr lang="en-ID" sz="3200" dirty="0"/>
              <a:t>, </a:t>
            </a:r>
            <a:r>
              <a:rPr lang="en-ID" sz="3200" dirty="0" err="1"/>
              <a:t>termasuk</a:t>
            </a:r>
            <a:r>
              <a:rPr lang="en-ID" sz="3200" dirty="0"/>
              <a:t> pada </a:t>
            </a:r>
            <a:r>
              <a:rPr lang="en-ID" sz="3200" dirty="0" err="1"/>
              <a:t>bidang</a:t>
            </a:r>
            <a:r>
              <a:rPr lang="en-ID" sz="3200" dirty="0"/>
              <a:t> </a:t>
            </a:r>
            <a:r>
              <a:rPr lang="en-ID" sz="3200" dirty="0" err="1"/>
              <a:t>olahraga</a:t>
            </a:r>
            <a:r>
              <a:rPr lang="en-ID" sz="3200" dirty="0"/>
              <a:t>. </a:t>
            </a:r>
            <a:r>
              <a:rPr lang="en-ID" sz="3200" dirty="0" err="1"/>
              <a:t>Pemanfaatan</a:t>
            </a:r>
            <a:r>
              <a:rPr lang="en-ID" sz="3200" dirty="0"/>
              <a:t> </a:t>
            </a:r>
            <a:r>
              <a:rPr lang="en-ID" sz="3200" dirty="0" err="1"/>
              <a:t>sistem</a:t>
            </a:r>
            <a:r>
              <a:rPr lang="en-ID" sz="3200" dirty="0"/>
              <a:t> </a:t>
            </a:r>
            <a:r>
              <a:rPr lang="en-ID" sz="3200" dirty="0" err="1"/>
              <a:t>informasi</a:t>
            </a:r>
            <a:r>
              <a:rPr lang="en-ID" sz="3200" dirty="0"/>
              <a:t> </a:t>
            </a:r>
            <a:r>
              <a:rPr lang="en-ID" sz="3200" dirty="0" err="1"/>
              <a:t>berbasis</a:t>
            </a:r>
            <a:r>
              <a:rPr lang="en-ID" sz="3200" dirty="0"/>
              <a:t> web </a:t>
            </a:r>
            <a:r>
              <a:rPr lang="en-ID" sz="3200" dirty="0" err="1"/>
              <a:t>telah</a:t>
            </a:r>
            <a:r>
              <a:rPr lang="en-ID" sz="3200" dirty="0"/>
              <a:t> </a:t>
            </a:r>
            <a:r>
              <a:rPr lang="en-ID" sz="3200" dirty="0" err="1"/>
              <a:t>menjadi</a:t>
            </a:r>
            <a:r>
              <a:rPr lang="en-ID" sz="3200" dirty="0"/>
              <a:t> </a:t>
            </a:r>
            <a:r>
              <a:rPr lang="en-ID" sz="3200" dirty="0" err="1"/>
              <a:t>solusi</a:t>
            </a:r>
            <a:r>
              <a:rPr lang="en-ID" sz="3200" dirty="0"/>
              <a:t> </a:t>
            </a:r>
            <a:r>
              <a:rPr lang="en-ID" sz="3200" dirty="0" err="1"/>
              <a:t>efektif</a:t>
            </a:r>
            <a:r>
              <a:rPr lang="en-ID" sz="3200" dirty="0"/>
              <a:t> </a:t>
            </a:r>
            <a:r>
              <a:rPr lang="en-ID" sz="3200" dirty="0" err="1"/>
              <a:t>dalam</a:t>
            </a:r>
            <a:r>
              <a:rPr lang="en-ID" sz="3200" dirty="0"/>
              <a:t> </a:t>
            </a:r>
            <a:r>
              <a:rPr lang="en-ID" sz="3200" dirty="0" err="1"/>
              <a:t>meningkatkan</a:t>
            </a:r>
            <a:r>
              <a:rPr lang="en-ID" sz="3200" dirty="0"/>
              <a:t> </a:t>
            </a:r>
            <a:r>
              <a:rPr lang="en-ID" sz="3200" dirty="0" err="1"/>
              <a:t>efisiensi</a:t>
            </a:r>
            <a:r>
              <a:rPr lang="en-ID" sz="3200" dirty="0"/>
              <a:t>, </a:t>
            </a:r>
            <a:r>
              <a:rPr lang="en-ID" sz="3200" dirty="0" err="1"/>
              <a:t>transparansi</a:t>
            </a:r>
            <a:r>
              <a:rPr lang="en-ID" sz="3200" dirty="0"/>
              <a:t>, dan </a:t>
            </a:r>
            <a:r>
              <a:rPr lang="en-ID" sz="3200" dirty="0" err="1"/>
              <a:t>akurasi</a:t>
            </a:r>
            <a:r>
              <a:rPr lang="en-ID" sz="3200" dirty="0"/>
              <a:t> </a:t>
            </a:r>
            <a:r>
              <a:rPr lang="en-ID" sz="3200" dirty="0" err="1"/>
              <a:t>pengelolaan</a:t>
            </a:r>
            <a:r>
              <a:rPr lang="en-ID" sz="3200" dirty="0"/>
              <a:t> data. Club Taekwondo </a:t>
            </a:r>
            <a:r>
              <a:rPr lang="en-ID" sz="3200" dirty="0" err="1"/>
              <a:t>Jaladewa</a:t>
            </a:r>
            <a:r>
              <a:rPr lang="en-ID" sz="3200" dirty="0"/>
              <a:t> di Surabaya, </a:t>
            </a:r>
            <a:r>
              <a:rPr lang="en-ID" sz="3200" dirty="0" err="1"/>
              <a:t>sebagai</a:t>
            </a:r>
            <a:r>
              <a:rPr lang="en-ID" sz="3200" dirty="0"/>
              <a:t> salah </a:t>
            </a:r>
            <a:r>
              <a:rPr lang="en-ID" sz="3200" dirty="0" err="1"/>
              <a:t>satu</a:t>
            </a:r>
            <a:r>
              <a:rPr lang="en-ID" sz="3200" dirty="0"/>
              <a:t> </a:t>
            </a:r>
            <a:r>
              <a:rPr lang="en-ID" sz="3200" dirty="0" err="1"/>
              <a:t>klub</a:t>
            </a:r>
            <a:r>
              <a:rPr lang="en-ID" sz="3200" dirty="0"/>
              <a:t> </a:t>
            </a:r>
            <a:r>
              <a:rPr lang="en-ID" sz="3200" dirty="0" err="1"/>
              <a:t>bela</a:t>
            </a:r>
            <a:r>
              <a:rPr lang="en-ID" sz="3200" dirty="0"/>
              <a:t> </a:t>
            </a:r>
            <a:r>
              <a:rPr lang="en-ID" sz="3200" dirty="0" err="1"/>
              <a:t>diri</a:t>
            </a:r>
            <a:r>
              <a:rPr lang="en-ID" sz="3200" dirty="0"/>
              <a:t> </a:t>
            </a:r>
            <a:r>
              <a:rPr lang="en-ID" sz="3200" dirty="0" err="1"/>
              <a:t>aktif</a:t>
            </a:r>
            <a:r>
              <a:rPr lang="en-ID" sz="3200" dirty="0"/>
              <a:t> yang rutin </a:t>
            </a:r>
            <a:r>
              <a:rPr lang="en-ID" sz="3200" dirty="0" err="1"/>
              <a:t>mengikuti</a:t>
            </a:r>
            <a:r>
              <a:rPr lang="en-ID" sz="3200" dirty="0"/>
              <a:t> </a:t>
            </a:r>
            <a:r>
              <a:rPr lang="en-ID" sz="3200" dirty="0" err="1"/>
              <a:t>berbagai</a:t>
            </a:r>
            <a:r>
              <a:rPr lang="en-ID" sz="3200" dirty="0"/>
              <a:t> event di </a:t>
            </a:r>
            <a:r>
              <a:rPr lang="en-ID" sz="3200" dirty="0" err="1"/>
              <a:t>tingkat</a:t>
            </a:r>
            <a:r>
              <a:rPr lang="en-ID" sz="3200" dirty="0"/>
              <a:t> </a:t>
            </a:r>
            <a:r>
              <a:rPr lang="en-ID" sz="3200" dirty="0" err="1"/>
              <a:t>kota</a:t>
            </a:r>
            <a:r>
              <a:rPr lang="en-ID" sz="3200" dirty="0"/>
              <a:t> dan </a:t>
            </a:r>
            <a:r>
              <a:rPr lang="en-ID" sz="3200" dirty="0" err="1"/>
              <a:t>provinsi</a:t>
            </a:r>
            <a:r>
              <a:rPr lang="en-ID" sz="3200" dirty="0"/>
              <a:t>, </a:t>
            </a:r>
            <a:r>
              <a:rPr lang="en-ID" sz="3200" dirty="0" err="1"/>
              <a:t>membutuhkan</a:t>
            </a:r>
            <a:r>
              <a:rPr lang="en-ID" sz="3200" dirty="0"/>
              <a:t> </a:t>
            </a:r>
            <a:r>
              <a:rPr lang="en-ID" sz="3200" dirty="0" err="1"/>
              <a:t>sistem</a:t>
            </a:r>
            <a:r>
              <a:rPr lang="en-ID" sz="3200" dirty="0"/>
              <a:t> </a:t>
            </a:r>
            <a:r>
              <a:rPr lang="en-ID" sz="3200" dirty="0" err="1"/>
              <a:t>administrasi</a:t>
            </a:r>
            <a:r>
              <a:rPr lang="en-ID" sz="3200" dirty="0"/>
              <a:t> yang </a:t>
            </a:r>
            <a:r>
              <a:rPr lang="en-ID" sz="3200" dirty="0" err="1"/>
              <a:t>terstruktur</a:t>
            </a:r>
            <a:r>
              <a:rPr lang="en-ID" sz="3200" dirty="0"/>
              <a:t> </a:t>
            </a:r>
            <a:r>
              <a:rPr lang="en-ID" sz="3200" dirty="0" err="1"/>
              <a:t>untuk</a:t>
            </a:r>
            <a:r>
              <a:rPr lang="en-ID" sz="3200" dirty="0"/>
              <a:t> </a:t>
            </a:r>
            <a:r>
              <a:rPr lang="en-ID" sz="3200" dirty="0" err="1"/>
              <a:t>mendukung</a:t>
            </a:r>
            <a:r>
              <a:rPr lang="en-ID" sz="3200" dirty="0"/>
              <a:t> </a:t>
            </a:r>
            <a:r>
              <a:rPr lang="en-ID" sz="3200" dirty="0" err="1"/>
              <a:t>kegiatan</a:t>
            </a:r>
            <a:r>
              <a:rPr lang="en-ID" sz="3200" dirty="0"/>
              <a:t> </a:t>
            </a:r>
            <a:r>
              <a:rPr lang="en-ID" sz="3200" dirty="0" err="1"/>
              <a:t>operasional</a:t>
            </a:r>
            <a:r>
              <a:rPr lang="en-ID" sz="3200" dirty="0"/>
              <a:t>, </a:t>
            </a:r>
            <a:r>
              <a:rPr lang="en-ID" sz="3200" dirty="0" err="1"/>
              <a:t>seperti</a:t>
            </a:r>
            <a:r>
              <a:rPr lang="en-ID" sz="3200" dirty="0"/>
              <a:t> </a:t>
            </a:r>
            <a:r>
              <a:rPr lang="en-ID" sz="3200" dirty="0" err="1"/>
              <a:t>pendaftaran</a:t>
            </a:r>
            <a:r>
              <a:rPr lang="en-ID" sz="3200" dirty="0"/>
              <a:t> </a:t>
            </a:r>
            <a:r>
              <a:rPr lang="en-ID" sz="3200" dirty="0" err="1"/>
              <a:t>atlet</a:t>
            </a:r>
            <a:r>
              <a:rPr lang="en-ID" sz="3200" dirty="0"/>
              <a:t>, </a:t>
            </a:r>
            <a:r>
              <a:rPr lang="en-ID" sz="3200" dirty="0" err="1"/>
              <a:t>pengelolaan</a:t>
            </a:r>
            <a:r>
              <a:rPr lang="en-ID" sz="3200" dirty="0"/>
              <a:t> data </a:t>
            </a:r>
            <a:r>
              <a:rPr lang="en-ID" sz="3200" dirty="0" err="1"/>
              <a:t>anggota</a:t>
            </a:r>
            <a:r>
              <a:rPr lang="en-ID" sz="3200" dirty="0"/>
              <a:t>, </a:t>
            </a:r>
            <a:r>
              <a:rPr lang="en-ID" sz="3200" dirty="0" err="1"/>
              <a:t>absensi</a:t>
            </a:r>
            <a:r>
              <a:rPr lang="en-ID" sz="3200" dirty="0"/>
              <a:t>, </a:t>
            </a:r>
            <a:r>
              <a:rPr lang="en-ID" sz="3200" dirty="0" err="1"/>
              <a:t>serta</a:t>
            </a:r>
            <a:r>
              <a:rPr lang="en-ID" sz="3200" dirty="0"/>
              <a:t> </a:t>
            </a:r>
            <a:r>
              <a:rPr lang="en-ID" sz="3200" dirty="0" err="1"/>
              <a:t>pelaporan</a:t>
            </a:r>
            <a:r>
              <a:rPr lang="en-ID" sz="3200" dirty="0"/>
              <a:t> </a:t>
            </a:r>
            <a:r>
              <a:rPr lang="en-ID" sz="3200" dirty="0" err="1"/>
              <a:t>kegiatan</a:t>
            </a:r>
            <a:r>
              <a:rPr lang="en-ID" sz="3200" dirty="0"/>
              <a:t>.</a:t>
            </a:r>
            <a:endParaRPr lang="en-US" sz="3098" b="1" dirty="0">
              <a:solidFill>
                <a:srgbClr val="732E0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230600" y="82296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3C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3BCEAF-34AE-8229-DBAB-8225EDEB4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395A004-DC45-C61D-861D-D1EB70E282FB}"/>
              </a:ext>
            </a:extLst>
          </p:cNvPr>
          <p:cNvSpPr/>
          <p:nvPr/>
        </p:nvSpPr>
        <p:spPr>
          <a:xfrm rot="-5400000" flipH="1">
            <a:off x="866494" y="2812105"/>
            <a:ext cx="6608402" cy="6283989"/>
          </a:xfrm>
          <a:custGeom>
            <a:avLst/>
            <a:gdLst/>
            <a:ahLst/>
            <a:cxnLst/>
            <a:rect l="l" t="t" r="r" b="b"/>
            <a:pathLst>
              <a:path w="6608402" h="6283989">
                <a:moveTo>
                  <a:pt x="6608401" y="0"/>
                </a:moveTo>
                <a:lnTo>
                  <a:pt x="0" y="0"/>
                </a:lnTo>
                <a:lnTo>
                  <a:pt x="0" y="6283989"/>
                </a:lnTo>
                <a:lnTo>
                  <a:pt x="6608401" y="6283989"/>
                </a:lnTo>
                <a:lnTo>
                  <a:pt x="660840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742EF1E-BA41-0E60-27F3-D789BF38A7AC}"/>
              </a:ext>
            </a:extLst>
          </p:cNvPr>
          <p:cNvSpPr txBox="1"/>
          <p:nvPr/>
        </p:nvSpPr>
        <p:spPr>
          <a:xfrm>
            <a:off x="4505493" y="514350"/>
            <a:ext cx="9277014" cy="124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1" dirty="0">
                <a:solidFill>
                  <a:srgbClr val="732E08"/>
                </a:solidFill>
                <a:latin typeface="Dimsum Semi-Bold"/>
                <a:ea typeface="Dimsum Semi-Bold"/>
                <a:cs typeface="Dimsum Semi-Bold"/>
                <a:sym typeface="Dimsum Semi-Bold"/>
              </a:rPr>
              <a:t>PAPER ACUAN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4302B65-E9D0-D855-23C5-87DF039BCF77}"/>
              </a:ext>
            </a:extLst>
          </p:cNvPr>
          <p:cNvSpPr txBox="1"/>
          <p:nvPr/>
        </p:nvSpPr>
        <p:spPr>
          <a:xfrm>
            <a:off x="1436774" y="4338804"/>
            <a:ext cx="5123866" cy="3773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2"/>
              </a:lnSpc>
            </a:pPr>
            <a:r>
              <a:rPr lang="en-US" sz="2400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Pengembangan</a:t>
            </a:r>
            <a:r>
              <a:rPr lang="en-US" sz="24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400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Sistem</a:t>
            </a:r>
            <a:r>
              <a:rPr lang="en-US" sz="24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400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Informasi</a:t>
            </a:r>
            <a:r>
              <a:rPr lang="en-US" sz="24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400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Sederhana</a:t>
            </a:r>
            <a:r>
              <a:rPr lang="en-US" sz="24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400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untuk</a:t>
            </a:r>
            <a:r>
              <a:rPr lang="en-US" sz="24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400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Pengelolaan</a:t>
            </a:r>
            <a:r>
              <a:rPr lang="en-US" sz="24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dan </a:t>
            </a:r>
            <a:r>
              <a:rPr lang="en-US" sz="2400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Pengolahan</a:t>
            </a:r>
            <a:r>
              <a:rPr lang="en-US" sz="2400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Data Tol Laut PT. PELNI (Persero) Cabang Surabaya</a:t>
            </a:r>
          </a:p>
          <a:p>
            <a:pPr algn="ctr">
              <a:lnSpc>
                <a:spcPts val="4962"/>
              </a:lnSpc>
            </a:pPr>
            <a:endParaRPr lang="en-US" sz="2400" b="1" dirty="0">
              <a:solidFill>
                <a:srgbClr val="732E08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E96EA0D-BBE1-CD3C-0DCA-D08406F4B0BC}"/>
              </a:ext>
            </a:extLst>
          </p:cNvPr>
          <p:cNvSpPr/>
          <p:nvPr/>
        </p:nvSpPr>
        <p:spPr>
          <a:xfrm>
            <a:off x="16230600" y="82296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E064CF-7CC0-EF8A-E57B-1C0A2CE28C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729" y="2895101"/>
            <a:ext cx="8006503" cy="673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588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904595" y="2562507"/>
            <a:ext cx="6608402" cy="6283989"/>
          </a:xfrm>
          <a:custGeom>
            <a:avLst/>
            <a:gdLst/>
            <a:ahLst/>
            <a:cxnLst/>
            <a:rect l="l" t="t" r="r" b="b"/>
            <a:pathLst>
              <a:path w="6608402" h="6283989">
                <a:moveTo>
                  <a:pt x="6608401" y="0"/>
                </a:moveTo>
                <a:lnTo>
                  <a:pt x="0" y="0"/>
                </a:lnTo>
                <a:lnTo>
                  <a:pt x="0" y="6283989"/>
                </a:lnTo>
                <a:lnTo>
                  <a:pt x="6608401" y="6283989"/>
                </a:lnTo>
                <a:lnTo>
                  <a:pt x="660840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05493" y="514350"/>
            <a:ext cx="9277014" cy="124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1" dirty="0" err="1">
                <a:solidFill>
                  <a:srgbClr val="732E08"/>
                </a:solidFill>
                <a:latin typeface="Dimsum Semi-Bold"/>
                <a:ea typeface="Dimsum Semi-Bold"/>
                <a:cs typeface="Dimsum Semi-Bold"/>
                <a:sym typeface="Dimsum Semi-Bold"/>
              </a:rPr>
              <a:t>Rumusan</a:t>
            </a:r>
            <a:r>
              <a:rPr lang="en-US" sz="7200" b="1" dirty="0">
                <a:solidFill>
                  <a:srgbClr val="732E08"/>
                </a:solidFill>
                <a:latin typeface="Dimsum Semi-Bold"/>
                <a:ea typeface="Dimsum Semi-Bold"/>
                <a:cs typeface="Dimsum Semi-Bold"/>
                <a:sym typeface="Dimsum Semi-Bold"/>
              </a:rPr>
              <a:t> </a:t>
            </a:r>
            <a:r>
              <a:rPr lang="en-US" sz="7200" b="1" dirty="0" err="1">
                <a:solidFill>
                  <a:srgbClr val="732E08"/>
                </a:solidFill>
                <a:latin typeface="Dimsum Semi-Bold"/>
                <a:ea typeface="Dimsum Semi-Bold"/>
                <a:cs typeface="Dimsum Semi-Bold"/>
                <a:sym typeface="Dimsum Semi-Bold"/>
              </a:rPr>
              <a:t>masalah</a:t>
            </a:r>
            <a:endParaRPr lang="en-US" sz="7200" b="1" dirty="0">
              <a:solidFill>
                <a:srgbClr val="732E08"/>
              </a:solidFill>
              <a:latin typeface="Dimsum Semi-Bold"/>
              <a:ea typeface="Dimsum Semi-Bold"/>
              <a:cs typeface="Dimsum Semi-Bold"/>
              <a:sym typeface="Dimsum Semi-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60797" y="3697240"/>
            <a:ext cx="5514994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Inti Masalah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60797" y="4817428"/>
            <a:ext cx="5514994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Pendaftaran</a:t>
            </a:r>
            <a:endParaRPr lang="en-US" sz="2799" b="1" dirty="0">
              <a:solidFill>
                <a:srgbClr val="732E08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 dirty="0" err="1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pengelolaan</a:t>
            </a:r>
            <a:r>
              <a:rPr lang="en-US" sz="2799" b="1" dirty="0">
                <a:solidFill>
                  <a:srgbClr val="732E0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data</a:t>
            </a:r>
          </a:p>
        </p:txBody>
      </p:sp>
      <p:sp>
        <p:nvSpPr>
          <p:cNvPr id="7" name="Freeform 7"/>
          <p:cNvSpPr/>
          <p:nvPr/>
        </p:nvSpPr>
        <p:spPr>
          <a:xfrm>
            <a:off x="16230600" y="82296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DDC0CD-EDF8-2E45-0928-EE2656D872D9}"/>
              </a:ext>
            </a:extLst>
          </p:cNvPr>
          <p:cNvSpPr txBox="1"/>
          <p:nvPr/>
        </p:nvSpPr>
        <p:spPr>
          <a:xfrm>
            <a:off x="7544787" y="3661598"/>
            <a:ext cx="10176386" cy="392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4338"/>
              </a:lnSpc>
            </a:pPr>
            <a:r>
              <a:rPr lang="en-ID" sz="3200" dirty="0"/>
              <a:t>1.Bagaimana </a:t>
            </a:r>
            <a:r>
              <a:rPr lang="en-ID" sz="3200" dirty="0" err="1"/>
              <a:t>merancang</a:t>
            </a:r>
            <a:r>
              <a:rPr lang="en-ID" sz="3200" dirty="0"/>
              <a:t> </a:t>
            </a:r>
            <a:r>
              <a:rPr lang="en-ID" sz="3200" dirty="0" err="1"/>
              <a:t>sistem</a:t>
            </a:r>
            <a:r>
              <a:rPr lang="en-ID" sz="3200" dirty="0"/>
              <a:t> </a:t>
            </a:r>
            <a:r>
              <a:rPr lang="en-ID" sz="3200" dirty="0" err="1"/>
              <a:t>informasi</a:t>
            </a:r>
            <a:r>
              <a:rPr lang="en-ID" sz="3200" dirty="0"/>
              <a:t> </a:t>
            </a:r>
            <a:r>
              <a:rPr lang="en-ID" sz="3200" dirty="0" err="1"/>
              <a:t>berbasis</a:t>
            </a:r>
            <a:r>
              <a:rPr lang="en-ID" sz="3200" dirty="0"/>
              <a:t> web yang </a:t>
            </a:r>
            <a:r>
              <a:rPr lang="en-ID" sz="3200" dirty="0" err="1"/>
              <a:t>dapat</a:t>
            </a:r>
            <a:r>
              <a:rPr lang="en-ID" sz="3200" dirty="0"/>
              <a:t> </a:t>
            </a:r>
            <a:r>
              <a:rPr lang="en-ID" sz="3200" dirty="0" err="1"/>
              <a:t>mempermudah</a:t>
            </a:r>
            <a:r>
              <a:rPr lang="en-ID" sz="3200" dirty="0"/>
              <a:t> proses </a:t>
            </a:r>
            <a:r>
              <a:rPr lang="en-ID" sz="3200" dirty="0" err="1"/>
              <a:t>pendaftaran</a:t>
            </a:r>
            <a:r>
              <a:rPr lang="en-ID" sz="3200" dirty="0"/>
              <a:t> </a:t>
            </a:r>
            <a:r>
              <a:rPr lang="en-ID" sz="3200" dirty="0" err="1"/>
              <a:t>atlet</a:t>
            </a:r>
            <a:r>
              <a:rPr lang="en-ID" sz="3200" dirty="0"/>
              <a:t> </a:t>
            </a:r>
            <a:r>
              <a:rPr lang="en-ID" sz="3200" dirty="0" err="1"/>
              <a:t>baru</a:t>
            </a:r>
            <a:r>
              <a:rPr lang="en-ID" sz="3200" dirty="0"/>
              <a:t> pada Klub Taekwondo </a:t>
            </a:r>
            <a:r>
              <a:rPr lang="en-ID" sz="3200" dirty="0" err="1"/>
              <a:t>Jaladewa</a:t>
            </a:r>
            <a:r>
              <a:rPr lang="en-ID" sz="3200" dirty="0"/>
              <a:t> di Surabaya?</a:t>
            </a:r>
          </a:p>
          <a:p>
            <a:pPr algn="just">
              <a:lnSpc>
                <a:spcPts val="4338"/>
              </a:lnSpc>
            </a:pPr>
            <a:endParaRPr lang="en-ID" sz="3200" b="1" dirty="0">
              <a:solidFill>
                <a:srgbClr val="732E0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algn="just">
              <a:lnSpc>
                <a:spcPts val="4338"/>
              </a:lnSpc>
            </a:pPr>
            <a:r>
              <a:rPr lang="en-ID" sz="3200" dirty="0"/>
              <a:t>2.Bagaimana </a:t>
            </a:r>
            <a:r>
              <a:rPr lang="en-ID" sz="3200" dirty="0" err="1"/>
              <a:t>membangun</a:t>
            </a:r>
            <a:r>
              <a:rPr lang="en-ID" sz="3200" dirty="0"/>
              <a:t> </a:t>
            </a:r>
            <a:r>
              <a:rPr lang="en-ID" sz="3200" dirty="0" err="1"/>
              <a:t>sistem</a:t>
            </a:r>
            <a:r>
              <a:rPr lang="en-ID" sz="3200" dirty="0"/>
              <a:t> yang </a:t>
            </a:r>
            <a:r>
              <a:rPr lang="en-ID" sz="3200" dirty="0" err="1"/>
              <a:t>mampu</a:t>
            </a:r>
            <a:r>
              <a:rPr lang="en-ID" sz="3200" dirty="0"/>
              <a:t> </a:t>
            </a:r>
            <a:r>
              <a:rPr lang="en-ID" sz="3200" dirty="0" err="1"/>
              <a:t>mengelola</a:t>
            </a:r>
            <a:r>
              <a:rPr lang="en-ID" sz="3200" dirty="0"/>
              <a:t> data </a:t>
            </a:r>
            <a:r>
              <a:rPr lang="en-ID" sz="3200" dirty="0" err="1"/>
              <a:t>atlet</a:t>
            </a:r>
            <a:r>
              <a:rPr lang="en-ID" sz="3200" dirty="0"/>
              <a:t> </a:t>
            </a:r>
            <a:r>
              <a:rPr lang="en-ID" sz="3200" dirty="0" err="1"/>
              <a:t>secara</a:t>
            </a:r>
            <a:r>
              <a:rPr lang="en-ID" sz="3200" dirty="0"/>
              <a:t> </a:t>
            </a:r>
            <a:r>
              <a:rPr lang="en-ID" sz="3200" dirty="0" err="1"/>
              <a:t>terstruktur</a:t>
            </a:r>
            <a:r>
              <a:rPr lang="en-ID" sz="3200" dirty="0"/>
              <a:t>, </a:t>
            </a:r>
            <a:r>
              <a:rPr lang="en-ID" sz="3200" dirty="0" err="1"/>
              <a:t>terintegrasi</a:t>
            </a:r>
            <a:r>
              <a:rPr lang="en-ID" sz="3200" dirty="0"/>
              <a:t>, dan </a:t>
            </a:r>
            <a:r>
              <a:rPr lang="en-ID" sz="3200" dirty="0" err="1"/>
              <a:t>mudah</a:t>
            </a:r>
            <a:r>
              <a:rPr lang="en-ID" sz="3200" dirty="0"/>
              <a:t> </a:t>
            </a:r>
            <a:r>
              <a:rPr lang="en-ID" sz="3200" dirty="0" err="1"/>
              <a:t>diakses</a:t>
            </a:r>
            <a:r>
              <a:rPr lang="en-ID" sz="3200" dirty="0"/>
              <a:t> oleh </a:t>
            </a:r>
            <a:r>
              <a:rPr lang="en-ID" sz="3200" dirty="0" err="1"/>
              <a:t>pengurus</a:t>
            </a:r>
            <a:r>
              <a:rPr lang="en-ID" sz="3200" dirty="0"/>
              <a:t> </a:t>
            </a:r>
            <a:r>
              <a:rPr lang="en-ID" sz="3200" dirty="0" err="1"/>
              <a:t>maupun</a:t>
            </a:r>
            <a:r>
              <a:rPr lang="en-ID" sz="3200" dirty="0"/>
              <a:t> </a:t>
            </a:r>
            <a:r>
              <a:rPr lang="en-ID" sz="3200" dirty="0" err="1"/>
              <a:t>pelatih</a:t>
            </a:r>
            <a:r>
              <a:rPr lang="en-ID" sz="3200" dirty="0"/>
              <a:t>?</a:t>
            </a:r>
            <a:endParaRPr lang="en-US" sz="3200" b="1" dirty="0">
              <a:solidFill>
                <a:srgbClr val="732E08"/>
              </a:solidFill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3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05492" y="514350"/>
            <a:ext cx="10048707" cy="124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1" dirty="0">
                <a:solidFill>
                  <a:srgbClr val="732E08"/>
                </a:solidFill>
                <a:latin typeface="Dimsum Semi-Bold"/>
                <a:ea typeface="Dimsum Semi-Bold"/>
                <a:cs typeface="Dimsum Semi-Bold"/>
                <a:sym typeface="Dimsum Semi-Bold"/>
              </a:rPr>
              <a:t>GAP</a:t>
            </a:r>
          </a:p>
        </p:txBody>
      </p:sp>
      <p:sp>
        <p:nvSpPr>
          <p:cNvPr id="4" name="Freeform 4"/>
          <p:cNvSpPr/>
          <p:nvPr/>
        </p:nvSpPr>
        <p:spPr>
          <a:xfrm>
            <a:off x="16230600" y="82296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48CA5-C80C-419F-8812-1391D4859F9C}"/>
              </a:ext>
            </a:extLst>
          </p:cNvPr>
          <p:cNvSpPr txBox="1"/>
          <p:nvPr/>
        </p:nvSpPr>
        <p:spPr>
          <a:xfrm>
            <a:off x="4055807" y="2247900"/>
            <a:ext cx="10176386" cy="6128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4338"/>
              </a:lnSpc>
            </a:pPr>
            <a:r>
              <a:rPr lang="en-ID" sz="3200" dirty="0"/>
              <a:t>Sebagian </a:t>
            </a:r>
            <a:r>
              <a:rPr lang="en-ID" sz="3200" dirty="0" err="1"/>
              <a:t>besar</a:t>
            </a:r>
            <a:r>
              <a:rPr lang="en-ID" sz="3200" dirty="0"/>
              <a:t> </a:t>
            </a:r>
            <a:r>
              <a:rPr lang="en-ID" sz="3200" dirty="0" err="1"/>
              <a:t>penelitian</a:t>
            </a:r>
            <a:r>
              <a:rPr lang="en-ID" sz="3200" dirty="0"/>
              <a:t> </a:t>
            </a:r>
            <a:r>
              <a:rPr lang="en-ID" sz="3200" dirty="0" err="1"/>
              <a:t>tentang</a:t>
            </a:r>
            <a:r>
              <a:rPr lang="en-ID" sz="3200" dirty="0"/>
              <a:t> </a:t>
            </a:r>
            <a:r>
              <a:rPr lang="en-ID" sz="3200" dirty="0" err="1"/>
              <a:t>sistem</a:t>
            </a:r>
            <a:r>
              <a:rPr lang="en-ID" sz="3200" dirty="0"/>
              <a:t> </a:t>
            </a:r>
            <a:r>
              <a:rPr lang="en-ID" sz="3200" dirty="0" err="1"/>
              <a:t>informasi</a:t>
            </a:r>
            <a:r>
              <a:rPr lang="en-ID" sz="3200" dirty="0"/>
              <a:t> </a:t>
            </a:r>
            <a:r>
              <a:rPr lang="en-ID" sz="3200" dirty="0" err="1"/>
              <a:t>berbasis</a:t>
            </a:r>
            <a:r>
              <a:rPr lang="en-ID" sz="3200" dirty="0"/>
              <a:t> web </a:t>
            </a:r>
            <a:r>
              <a:rPr lang="en-ID" sz="3200" dirty="0" err="1"/>
              <a:t>difokuskan</a:t>
            </a:r>
            <a:r>
              <a:rPr lang="en-ID" sz="3200" dirty="0"/>
              <a:t> pada </a:t>
            </a:r>
            <a:r>
              <a:rPr lang="en-ID" sz="3200" dirty="0" err="1"/>
              <a:t>institusi</a:t>
            </a:r>
            <a:r>
              <a:rPr lang="en-ID" sz="3200" dirty="0"/>
              <a:t> </a:t>
            </a:r>
            <a:r>
              <a:rPr lang="en-ID" sz="3200" dirty="0" err="1"/>
              <a:t>pendidikan</a:t>
            </a:r>
            <a:r>
              <a:rPr lang="en-ID" sz="3200" dirty="0"/>
              <a:t> </a:t>
            </a:r>
            <a:r>
              <a:rPr lang="en-ID" sz="3200" dirty="0" err="1"/>
              <a:t>atau</a:t>
            </a:r>
            <a:r>
              <a:rPr lang="en-ID" sz="3200" dirty="0"/>
              <a:t> </a:t>
            </a:r>
            <a:r>
              <a:rPr lang="en-ID" sz="3200" dirty="0" err="1"/>
              <a:t>perusahaan</a:t>
            </a:r>
            <a:r>
              <a:rPr lang="en-ID" sz="3200" dirty="0"/>
              <a:t>, </a:t>
            </a:r>
            <a:r>
              <a:rPr lang="en-ID" sz="3200" dirty="0" err="1"/>
              <a:t>sementara</a:t>
            </a:r>
            <a:r>
              <a:rPr lang="en-ID" sz="3200" dirty="0"/>
              <a:t> </a:t>
            </a:r>
            <a:r>
              <a:rPr lang="en-ID" sz="3200" dirty="0" err="1"/>
              <a:t>implementasi</a:t>
            </a:r>
            <a:r>
              <a:rPr lang="en-ID" sz="3200" dirty="0"/>
              <a:t> di </a:t>
            </a:r>
            <a:r>
              <a:rPr lang="en-ID" sz="3200" dirty="0" err="1"/>
              <a:t>klub</a:t>
            </a:r>
            <a:r>
              <a:rPr lang="en-ID" sz="3200" dirty="0"/>
              <a:t> </a:t>
            </a:r>
            <a:r>
              <a:rPr lang="en-ID" sz="3200" dirty="0" err="1"/>
              <a:t>olahraga</a:t>
            </a:r>
            <a:r>
              <a:rPr lang="en-ID" sz="3200" dirty="0"/>
              <a:t> </a:t>
            </a:r>
            <a:r>
              <a:rPr lang="en-ID" sz="3200" dirty="0" err="1"/>
              <a:t>lokal</a:t>
            </a:r>
            <a:r>
              <a:rPr lang="en-ID" sz="3200" dirty="0"/>
              <a:t> — </a:t>
            </a:r>
            <a:r>
              <a:rPr lang="en-ID" sz="3200" dirty="0" err="1"/>
              <a:t>khususnya</a:t>
            </a:r>
            <a:r>
              <a:rPr lang="en-ID" sz="3200" dirty="0"/>
              <a:t> </a:t>
            </a:r>
            <a:r>
              <a:rPr lang="en-ID" sz="3200" dirty="0" err="1"/>
              <a:t>tingkat</a:t>
            </a:r>
            <a:r>
              <a:rPr lang="en-ID" sz="3200" dirty="0"/>
              <a:t> </a:t>
            </a:r>
            <a:r>
              <a:rPr lang="en-ID" sz="3200" dirty="0" err="1"/>
              <a:t>kota</a:t>
            </a:r>
            <a:r>
              <a:rPr lang="en-ID" sz="3200" dirty="0"/>
              <a:t> </a:t>
            </a:r>
            <a:r>
              <a:rPr lang="en-ID" sz="3200" dirty="0" err="1"/>
              <a:t>seperti</a:t>
            </a:r>
            <a:r>
              <a:rPr lang="en-ID" sz="3200" dirty="0"/>
              <a:t> Club Taekwondo </a:t>
            </a:r>
            <a:r>
              <a:rPr lang="en-ID" sz="3200" dirty="0" err="1"/>
              <a:t>Jaladewa</a:t>
            </a:r>
            <a:r>
              <a:rPr lang="en-ID" sz="3200" dirty="0"/>
              <a:t> — </a:t>
            </a:r>
            <a:r>
              <a:rPr lang="en-ID" sz="3200" dirty="0" err="1"/>
              <a:t>masih</a:t>
            </a:r>
            <a:r>
              <a:rPr lang="en-ID" sz="3200" dirty="0"/>
              <a:t> </a:t>
            </a:r>
            <a:r>
              <a:rPr lang="en-ID" sz="3200" dirty="0" err="1"/>
              <a:t>jarang</a:t>
            </a:r>
            <a:r>
              <a:rPr lang="en-ID" sz="3200" dirty="0"/>
              <a:t> </a:t>
            </a:r>
            <a:r>
              <a:rPr lang="en-ID" sz="3200" dirty="0" err="1"/>
              <a:t>dikaji</a:t>
            </a:r>
            <a:r>
              <a:rPr lang="en-ID" sz="3200" dirty="0"/>
              <a:t> </a:t>
            </a:r>
            <a:r>
              <a:rPr lang="en-ID" sz="3200" dirty="0" err="1"/>
              <a:t>secara</a:t>
            </a:r>
            <a:r>
              <a:rPr lang="en-ID" sz="3200" dirty="0"/>
              <a:t> </a:t>
            </a:r>
            <a:r>
              <a:rPr lang="en-ID" sz="3200" dirty="0" err="1"/>
              <a:t>mendalam</a:t>
            </a:r>
            <a:r>
              <a:rPr lang="en-ID" sz="3200" dirty="0"/>
              <a:t>. Banyak </a:t>
            </a:r>
            <a:r>
              <a:rPr lang="en-ID" sz="3200" dirty="0" err="1"/>
              <a:t>penelitian</a:t>
            </a:r>
            <a:r>
              <a:rPr lang="en-ID" sz="3200" dirty="0"/>
              <a:t> </a:t>
            </a:r>
            <a:r>
              <a:rPr lang="en-ID" sz="3200" dirty="0" err="1"/>
              <a:t>terdahulu</a:t>
            </a:r>
            <a:r>
              <a:rPr lang="en-ID" sz="3200" dirty="0"/>
              <a:t> </a:t>
            </a:r>
            <a:r>
              <a:rPr lang="en-ID" sz="3200" dirty="0" err="1"/>
              <a:t>menggunakan</a:t>
            </a:r>
            <a:r>
              <a:rPr lang="en-ID" sz="3200" dirty="0"/>
              <a:t> model </a:t>
            </a:r>
            <a:r>
              <a:rPr lang="en-ID" sz="3200" dirty="0" err="1"/>
              <a:t>pengembangan</a:t>
            </a:r>
            <a:r>
              <a:rPr lang="en-ID" sz="3200" dirty="0"/>
              <a:t> </a:t>
            </a:r>
            <a:r>
              <a:rPr lang="en-ID" sz="3200" dirty="0" err="1"/>
              <a:t>klasik</a:t>
            </a:r>
            <a:r>
              <a:rPr lang="en-ID" sz="3200" dirty="0"/>
              <a:t> </a:t>
            </a:r>
            <a:r>
              <a:rPr lang="en-ID" sz="3200" dirty="0" err="1"/>
              <a:t>seperti</a:t>
            </a:r>
            <a:r>
              <a:rPr lang="en-ID" sz="3200" dirty="0"/>
              <a:t> Waterfall, yang </a:t>
            </a:r>
            <a:r>
              <a:rPr lang="en-ID" sz="3200" dirty="0" err="1"/>
              <a:t>kurang</a:t>
            </a:r>
            <a:r>
              <a:rPr lang="en-ID" sz="3200" dirty="0"/>
              <a:t> </a:t>
            </a:r>
            <a:r>
              <a:rPr lang="en-ID" sz="3200" dirty="0" err="1"/>
              <a:t>adaptif</a:t>
            </a:r>
            <a:r>
              <a:rPr lang="en-ID" sz="3200" dirty="0"/>
              <a:t> </a:t>
            </a:r>
            <a:r>
              <a:rPr lang="en-ID" sz="3200" dirty="0" err="1"/>
              <a:t>terhadap</a:t>
            </a:r>
            <a:r>
              <a:rPr lang="en-ID" sz="3200" dirty="0"/>
              <a:t> </a:t>
            </a:r>
            <a:r>
              <a:rPr lang="en-ID" sz="3200" dirty="0" err="1"/>
              <a:t>perubahan</a:t>
            </a:r>
            <a:r>
              <a:rPr lang="en-ID" sz="3200" dirty="0"/>
              <a:t> </a:t>
            </a:r>
            <a:r>
              <a:rPr lang="en-ID" sz="3200" dirty="0" err="1"/>
              <a:t>kebutuhan</a:t>
            </a:r>
            <a:r>
              <a:rPr lang="en-ID" sz="3200" dirty="0"/>
              <a:t> </a:t>
            </a:r>
            <a:r>
              <a:rPr lang="en-ID" sz="3200" dirty="0" err="1"/>
              <a:t>pengguna</a:t>
            </a:r>
            <a:r>
              <a:rPr lang="en-ID" sz="3200" dirty="0"/>
              <a:t>. Belum </a:t>
            </a:r>
            <a:r>
              <a:rPr lang="en-ID" sz="3200" dirty="0" err="1"/>
              <a:t>banyak</a:t>
            </a:r>
            <a:r>
              <a:rPr lang="en-ID" sz="3200" dirty="0"/>
              <a:t> </a:t>
            </a:r>
            <a:r>
              <a:rPr lang="en-ID" sz="3200" dirty="0" err="1"/>
              <a:t>penelitian</a:t>
            </a:r>
            <a:r>
              <a:rPr lang="en-ID" sz="3200" dirty="0"/>
              <a:t> yang </a:t>
            </a:r>
            <a:r>
              <a:rPr lang="en-ID" sz="3200" dirty="0" err="1"/>
              <a:t>menganalisis</a:t>
            </a:r>
            <a:r>
              <a:rPr lang="en-ID" sz="3200" dirty="0"/>
              <a:t> </a:t>
            </a:r>
            <a:r>
              <a:rPr lang="en-ID" sz="3200" dirty="0" err="1"/>
              <a:t>efektivitas</a:t>
            </a:r>
            <a:r>
              <a:rPr lang="en-ID" sz="3200" dirty="0"/>
              <a:t> </a:t>
            </a:r>
            <a:r>
              <a:rPr lang="en-ID" sz="3200" dirty="0" err="1"/>
              <a:t>metode</a:t>
            </a:r>
            <a:r>
              <a:rPr lang="en-ID" sz="3200" dirty="0"/>
              <a:t> Agile (Scrum) </a:t>
            </a:r>
            <a:r>
              <a:rPr lang="en-ID" sz="3200" dirty="0" err="1"/>
              <a:t>dalam</a:t>
            </a:r>
            <a:r>
              <a:rPr lang="en-ID" sz="3200" dirty="0"/>
              <a:t> </a:t>
            </a:r>
            <a:r>
              <a:rPr lang="en-ID" sz="3200" dirty="0" err="1"/>
              <a:t>konteks</a:t>
            </a:r>
            <a:r>
              <a:rPr lang="en-ID" sz="3200" dirty="0"/>
              <a:t> </a:t>
            </a:r>
            <a:r>
              <a:rPr lang="en-ID" sz="3200" dirty="0" err="1"/>
              <a:t>pengembangan</a:t>
            </a:r>
            <a:r>
              <a:rPr lang="en-ID" sz="3200" dirty="0"/>
              <a:t> </a:t>
            </a:r>
            <a:r>
              <a:rPr lang="en-ID" sz="3200" dirty="0" err="1"/>
              <a:t>sistem</a:t>
            </a:r>
            <a:r>
              <a:rPr lang="en-ID" sz="3200" dirty="0"/>
              <a:t> </a:t>
            </a:r>
            <a:r>
              <a:rPr lang="en-ID" sz="3200" dirty="0" err="1"/>
              <a:t>informasi</a:t>
            </a:r>
            <a:r>
              <a:rPr lang="en-ID" sz="3200" dirty="0"/>
              <a:t> </a:t>
            </a:r>
            <a:r>
              <a:rPr lang="en-ID" sz="3200" dirty="0" err="1"/>
              <a:t>organisasi</a:t>
            </a:r>
            <a:r>
              <a:rPr lang="en-ID" sz="3200" dirty="0"/>
              <a:t> </a:t>
            </a:r>
            <a:r>
              <a:rPr lang="en-ID" sz="3200" dirty="0" err="1"/>
              <a:t>kecil</a:t>
            </a:r>
            <a:r>
              <a:rPr lang="en-ID" sz="3200" dirty="0"/>
              <a:t> </a:t>
            </a:r>
            <a:r>
              <a:rPr lang="en-ID" sz="3200" dirty="0" err="1"/>
              <a:t>seperti</a:t>
            </a:r>
            <a:r>
              <a:rPr lang="en-ID" sz="3200" dirty="0"/>
              <a:t> </a:t>
            </a:r>
            <a:r>
              <a:rPr lang="en-ID" sz="3200" dirty="0" err="1"/>
              <a:t>klub</a:t>
            </a:r>
            <a:r>
              <a:rPr lang="en-ID" sz="3200" dirty="0"/>
              <a:t> </a:t>
            </a:r>
            <a:r>
              <a:rPr lang="en-ID" sz="3200" dirty="0" err="1"/>
              <a:t>olahraga</a:t>
            </a:r>
            <a:r>
              <a:rPr lang="en-ID" sz="32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9D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54599" y="-2057400"/>
            <a:ext cx="4909197" cy="4114800"/>
          </a:xfrm>
          <a:custGeom>
            <a:avLst/>
            <a:gdLst/>
            <a:ahLst/>
            <a:cxnLst/>
            <a:rect l="l" t="t" r="r" b="b"/>
            <a:pathLst>
              <a:path w="4909197" h="4114800">
                <a:moveTo>
                  <a:pt x="0" y="0"/>
                </a:moveTo>
                <a:lnTo>
                  <a:pt x="4909198" y="0"/>
                </a:lnTo>
                <a:lnTo>
                  <a:pt x="49091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648441" y="1028700"/>
            <a:ext cx="10991119" cy="8229600"/>
          </a:xfrm>
          <a:custGeom>
            <a:avLst/>
            <a:gdLst/>
            <a:ahLst/>
            <a:cxnLst/>
            <a:rect l="l" t="t" r="r" b="b"/>
            <a:pathLst>
              <a:path w="10991119" h="8229600">
                <a:moveTo>
                  <a:pt x="0" y="0"/>
                </a:moveTo>
                <a:lnTo>
                  <a:pt x="10991118" y="0"/>
                </a:lnTo>
                <a:lnTo>
                  <a:pt x="1099111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036727" y="4371975"/>
            <a:ext cx="8214546" cy="1543050"/>
            <a:chOff x="0" y="0"/>
            <a:chExt cx="2163502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63502" cy="406400"/>
            </a:xfrm>
            <a:custGeom>
              <a:avLst/>
              <a:gdLst/>
              <a:ahLst/>
              <a:cxnLst/>
              <a:rect l="l" t="t" r="r" b="b"/>
              <a:pathLst>
                <a:path w="2163502" h="406400">
                  <a:moveTo>
                    <a:pt x="1960302" y="0"/>
                  </a:moveTo>
                  <a:cubicBezTo>
                    <a:pt x="2072526" y="0"/>
                    <a:pt x="2163502" y="90976"/>
                    <a:pt x="2163502" y="203200"/>
                  </a:cubicBezTo>
                  <a:cubicBezTo>
                    <a:pt x="2163502" y="315424"/>
                    <a:pt x="2072526" y="406400"/>
                    <a:pt x="196030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DEAD"/>
            </a:solidFill>
            <a:ln w="95250" cap="sq">
              <a:solidFill>
                <a:srgbClr val="732E08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163502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4972" y="6171404"/>
            <a:ext cx="725086" cy="725086"/>
          </a:xfrm>
          <a:custGeom>
            <a:avLst/>
            <a:gdLst/>
            <a:ahLst/>
            <a:cxnLst/>
            <a:rect l="l" t="t" r="r" b="b"/>
            <a:pathLst>
              <a:path w="725086" h="725086">
                <a:moveTo>
                  <a:pt x="0" y="0"/>
                </a:moveTo>
                <a:lnTo>
                  <a:pt x="725086" y="0"/>
                </a:lnTo>
                <a:lnTo>
                  <a:pt x="725086" y="725086"/>
                </a:lnTo>
                <a:lnTo>
                  <a:pt x="0" y="7250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277942" y="6171404"/>
            <a:ext cx="725086" cy="725086"/>
          </a:xfrm>
          <a:custGeom>
            <a:avLst/>
            <a:gdLst/>
            <a:ahLst/>
            <a:cxnLst/>
            <a:rect l="l" t="t" r="r" b="b"/>
            <a:pathLst>
              <a:path w="725086" h="725086">
                <a:moveTo>
                  <a:pt x="0" y="0"/>
                </a:moveTo>
                <a:lnTo>
                  <a:pt x="725086" y="0"/>
                </a:lnTo>
                <a:lnTo>
                  <a:pt x="725086" y="725086"/>
                </a:lnTo>
                <a:lnTo>
                  <a:pt x="0" y="7250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8781457" y="6171404"/>
            <a:ext cx="725086" cy="725086"/>
            <a:chOff x="0" y="0"/>
            <a:chExt cx="966781" cy="966781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966781" cy="966781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32E0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193217" y="216958"/>
              <a:ext cx="580347" cy="532864"/>
            </a:xfrm>
            <a:custGeom>
              <a:avLst/>
              <a:gdLst/>
              <a:ahLst/>
              <a:cxnLst/>
              <a:rect l="l" t="t" r="r" b="b"/>
              <a:pathLst>
                <a:path w="580347" h="532864">
                  <a:moveTo>
                    <a:pt x="0" y="0"/>
                  </a:moveTo>
                  <a:lnTo>
                    <a:pt x="580347" y="0"/>
                  </a:lnTo>
                  <a:lnTo>
                    <a:pt x="580347" y="532865"/>
                  </a:lnTo>
                  <a:lnTo>
                    <a:pt x="0" y="532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6230600" y="82296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2077408" y="8229600"/>
            <a:ext cx="4532006" cy="4114800"/>
          </a:xfrm>
          <a:custGeom>
            <a:avLst/>
            <a:gdLst/>
            <a:ahLst/>
            <a:cxnLst/>
            <a:rect l="l" t="t" r="r" b="b"/>
            <a:pathLst>
              <a:path w="4532006" h="4114800">
                <a:moveTo>
                  <a:pt x="0" y="0"/>
                </a:moveTo>
                <a:lnTo>
                  <a:pt x="4532007" y="0"/>
                </a:lnTo>
                <a:lnTo>
                  <a:pt x="45320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015771" y="-2057400"/>
            <a:ext cx="4544458" cy="4114800"/>
          </a:xfrm>
          <a:custGeom>
            <a:avLst/>
            <a:gdLst/>
            <a:ahLst/>
            <a:cxnLst/>
            <a:rect l="l" t="t" r="r" b="b"/>
            <a:pathLst>
              <a:path w="4544458" h="4114800">
                <a:moveTo>
                  <a:pt x="0" y="0"/>
                </a:moveTo>
                <a:lnTo>
                  <a:pt x="4544458" y="0"/>
                </a:lnTo>
                <a:lnTo>
                  <a:pt x="4544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915952" y="4082415"/>
            <a:ext cx="10456096" cy="1607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1">
                <a:solidFill>
                  <a:srgbClr val="732E08"/>
                </a:solidFill>
                <a:latin typeface="Dimsum Semi-Bold"/>
                <a:ea typeface="Dimsum Semi-Bold"/>
                <a:cs typeface="Dimsum Semi-Bold"/>
                <a:sym typeface="Dimsum Semi-Bold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286</Words>
  <Application>Microsoft Office PowerPoint</Application>
  <PresentationFormat>Custom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Dimsum Semi-Bold</vt:lpstr>
      <vt:lpstr>Calibri</vt:lpstr>
      <vt:lpstr>Poppins Semi-Bold</vt:lpstr>
      <vt:lpstr>Arial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UTS Analisis Kebutuhan</dc:title>
  <cp:lastModifiedBy>cicik patriot</cp:lastModifiedBy>
  <cp:revision>2</cp:revision>
  <dcterms:created xsi:type="dcterms:W3CDTF">2006-08-16T00:00:00Z</dcterms:created>
  <dcterms:modified xsi:type="dcterms:W3CDTF">2025-12-05T09:57:36Z</dcterms:modified>
  <dc:identifier>DAGU6k-gCFE</dc:identifier>
</cp:coreProperties>
</file>